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74" r:id="rId7"/>
    <p:sldId id="261" r:id="rId8"/>
    <p:sldId id="275" r:id="rId9"/>
    <p:sldId id="262" r:id="rId10"/>
    <p:sldId id="276" r:id="rId11"/>
    <p:sldId id="263" r:id="rId12"/>
    <p:sldId id="277" r:id="rId13"/>
    <p:sldId id="264" r:id="rId14"/>
    <p:sldId id="278" r:id="rId15"/>
    <p:sldId id="265" r:id="rId16"/>
    <p:sldId id="279" r:id="rId17"/>
    <p:sldId id="266" r:id="rId18"/>
    <p:sldId id="280" r:id="rId19"/>
    <p:sldId id="267" r:id="rId20"/>
    <p:sldId id="281" r:id="rId21"/>
    <p:sldId id="269" r:id="rId22"/>
    <p:sldId id="283" r:id="rId23"/>
    <p:sldId id="268" r:id="rId24"/>
    <p:sldId id="282" r:id="rId25"/>
    <p:sldId id="270" r:id="rId26"/>
    <p:sldId id="284" r:id="rId27"/>
    <p:sldId id="271" r:id="rId28"/>
    <p:sldId id="272" r:id="rId29"/>
    <p:sldId id="273" r:id="rId3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775683-10B9-4915-8B5B-31976EE34888}" v="237" dt="2025-04-23T00:36:40.124"/>
    <p1510:client id="{5D0DF7C4-5D1C-507F-5838-886AA3764F2F}" v="669" dt="2025-04-23T00:32:33.38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4" Type="http://schemas.openxmlformats.org/officeDocument/2006/relationships/image" Target="../media/image17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4" Type="http://schemas.openxmlformats.org/officeDocument/2006/relationships/image" Target="../media/image1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9B3E4BD-C5C6-4DB0-B4E9-BD5B72D69D74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3AB7928D-7C2E-405F-A7DD-F561DA3F596B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Thank you for your attention!</a:t>
          </a:r>
        </a:p>
      </dgm:t>
    </dgm:pt>
    <dgm:pt modelId="{285EA987-4C6B-49CE-82EB-C9CD61D88800}" type="parTrans" cxnId="{8A7643AC-8AD5-4C13-BA0F-BDC8690705EB}">
      <dgm:prSet/>
      <dgm:spPr/>
      <dgm:t>
        <a:bodyPr/>
        <a:lstStyle/>
        <a:p>
          <a:endParaRPr lang="en-US"/>
        </a:p>
      </dgm:t>
    </dgm:pt>
    <dgm:pt modelId="{AFB40FC2-059D-4D4E-9334-699AB3665A66}" type="sibTrans" cxnId="{8A7643AC-8AD5-4C13-BA0F-BDC8690705EB}">
      <dgm:prSet/>
      <dgm:spPr/>
      <dgm:t>
        <a:bodyPr/>
        <a:lstStyle/>
        <a:p>
          <a:endParaRPr lang="en-US"/>
        </a:p>
      </dgm:t>
    </dgm:pt>
    <dgm:pt modelId="{1AF5C724-51C7-49BA-9B94-F3DD3352DD32}">
      <dgm:prSet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We welcome your questions and feedback.</a:t>
          </a:r>
        </a:p>
      </dgm:t>
    </dgm:pt>
    <dgm:pt modelId="{99423045-47BF-4D03-A53A-3084D77956A0}" type="parTrans" cxnId="{0439B6F5-7C7A-4132-8300-547D840A381B}">
      <dgm:prSet/>
      <dgm:spPr/>
      <dgm:t>
        <a:bodyPr/>
        <a:lstStyle/>
        <a:p>
          <a:endParaRPr lang="en-US"/>
        </a:p>
      </dgm:t>
    </dgm:pt>
    <dgm:pt modelId="{00491CEF-5857-4BF4-B56D-2BC1F185515D}" type="sibTrans" cxnId="{0439B6F5-7C7A-4132-8300-547D840A381B}">
      <dgm:prSet/>
      <dgm:spPr/>
      <dgm:t>
        <a:bodyPr/>
        <a:lstStyle/>
        <a:p>
          <a:endParaRPr lang="en-US"/>
        </a:p>
      </dgm:t>
    </dgm:pt>
    <dgm:pt modelId="{157B1494-5147-49DF-92FC-3625A4F96D53}" type="pres">
      <dgm:prSet presAssocID="{89B3E4BD-C5C6-4DB0-B4E9-BD5B72D69D74}" presName="root" presStyleCnt="0">
        <dgm:presLayoutVars>
          <dgm:dir/>
          <dgm:resizeHandles val="exact"/>
        </dgm:presLayoutVars>
      </dgm:prSet>
      <dgm:spPr/>
    </dgm:pt>
    <dgm:pt modelId="{157605F1-D30C-4D33-B418-EAB83C1ED9EC}" type="pres">
      <dgm:prSet presAssocID="{3AB7928D-7C2E-405F-A7DD-F561DA3F596B}" presName="compNode" presStyleCnt="0"/>
      <dgm:spPr/>
    </dgm:pt>
    <dgm:pt modelId="{DBF78781-0A77-4CB8-A7FC-95C20D752B2D}" type="pres">
      <dgm:prSet presAssocID="{3AB7928D-7C2E-405F-A7DD-F561DA3F596B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ar"/>
        </a:ext>
      </dgm:extLst>
    </dgm:pt>
    <dgm:pt modelId="{7A5D66F7-841E-4F5F-BDBF-AE38263690E8}" type="pres">
      <dgm:prSet presAssocID="{3AB7928D-7C2E-405F-A7DD-F561DA3F596B}" presName="spaceRect" presStyleCnt="0"/>
      <dgm:spPr/>
    </dgm:pt>
    <dgm:pt modelId="{944D7D8B-B2E7-4A6D-BDE4-8C39D75EA9D3}" type="pres">
      <dgm:prSet presAssocID="{3AB7928D-7C2E-405F-A7DD-F561DA3F596B}" presName="textRect" presStyleLbl="revTx" presStyleIdx="0" presStyleCnt="2">
        <dgm:presLayoutVars>
          <dgm:chMax val="1"/>
          <dgm:chPref val="1"/>
        </dgm:presLayoutVars>
      </dgm:prSet>
      <dgm:spPr/>
    </dgm:pt>
    <dgm:pt modelId="{8241BB4E-6071-40F1-81E3-AA01D441B55D}" type="pres">
      <dgm:prSet presAssocID="{AFB40FC2-059D-4D4E-9334-699AB3665A66}" presName="sibTrans" presStyleCnt="0"/>
      <dgm:spPr/>
    </dgm:pt>
    <dgm:pt modelId="{FC0BCB4D-859E-4D12-B947-2FF0418ED5F0}" type="pres">
      <dgm:prSet presAssocID="{1AF5C724-51C7-49BA-9B94-F3DD3352DD32}" presName="compNode" presStyleCnt="0"/>
      <dgm:spPr/>
    </dgm:pt>
    <dgm:pt modelId="{2B91B6DC-46D9-4C66-9F49-E28A673957C6}" type="pres">
      <dgm:prSet presAssocID="{1AF5C724-51C7-49BA-9B94-F3DD3352DD32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ustomer Review"/>
        </a:ext>
      </dgm:extLst>
    </dgm:pt>
    <dgm:pt modelId="{E35C4094-FC43-4C99-A7C9-8018DEA5BDB2}" type="pres">
      <dgm:prSet presAssocID="{1AF5C724-51C7-49BA-9B94-F3DD3352DD32}" presName="spaceRect" presStyleCnt="0"/>
      <dgm:spPr/>
    </dgm:pt>
    <dgm:pt modelId="{E5980362-7AF7-4C50-B0A5-10FEF9DCBBB4}" type="pres">
      <dgm:prSet presAssocID="{1AF5C724-51C7-49BA-9B94-F3DD3352DD32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4F59FE26-C995-4524-B3FE-7D0DF0A985D4}" type="presOf" srcId="{89B3E4BD-C5C6-4DB0-B4E9-BD5B72D69D74}" destId="{157B1494-5147-49DF-92FC-3625A4F96D53}" srcOrd="0" destOrd="0" presId="urn:microsoft.com/office/officeart/2018/2/layout/IconLabelList"/>
    <dgm:cxn modelId="{58CE5C56-9E18-47E7-8430-A393C95D55BD}" type="presOf" srcId="{3AB7928D-7C2E-405F-A7DD-F561DA3F596B}" destId="{944D7D8B-B2E7-4A6D-BDE4-8C39D75EA9D3}" srcOrd="0" destOrd="0" presId="urn:microsoft.com/office/officeart/2018/2/layout/IconLabelList"/>
    <dgm:cxn modelId="{ABB8697C-1E40-48BF-B06B-14D569795B08}" type="presOf" srcId="{1AF5C724-51C7-49BA-9B94-F3DD3352DD32}" destId="{E5980362-7AF7-4C50-B0A5-10FEF9DCBBB4}" srcOrd="0" destOrd="0" presId="urn:microsoft.com/office/officeart/2018/2/layout/IconLabelList"/>
    <dgm:cxn modelId="{8A7643AC-8AD5-4C13-BA0F-BDC8690705EB}" srcId="{89B3E4BD-C5C6-4DB0-B4E9-BD5B72D69D74}" destId="{3AB7928D-7C2E-405F-A7DD-F561DA3F596B}" srcOrd="0" destOrd="0" parTransId="{285EA987-4C6B-49CE-82EB-C9CD61D88800}" sibTransId="{AFB40FC2-059D-4D4E-9334-699AB3665A66}"/>
    <dgm:cxn modelId="{0439B6F5-7C7A-4132-8300-547D840A381B}" srcId="{89B3E4BD-C5C6-4DB0-B4E9-BD5B72D69D74}" destId="{1AF5C724-51C7-49BA-9B94-F3DD3352DD32}" srcOrd="1" destOrd="0" parTransId="{99423045-47BF-4D03-A53A-3084D77956A0}" sibTransId="{00491CEF-5857-4BF4-B56D-2BC1F185515D}"/>
    <dgm:cxn modelId="{E65856D0-8FEF-48E2-A892-CEB4C67389A3}" type="presParOf" srcId="{157B1494-5147-49DF-92FC-3625A4F96D53}" destId="{157605F1-D30C-4D33-B418-EAB83C1ED9EC}" srcOrd="0" destOrd="0" presId="urn:microsoft.com/office/officeart/2018/2/layout/IconLabelList"/>
    <dgm:cxn modelId="{0E6829D0-9D06-4D4B-B3CB-594F2595CFE7}" type="presParOf" srcId="{157605F1-D30C-4D33-B418-EAB83C1ED9EC}" destId="{DBF78781-0A77-4CB8-A7FC-95C20D752B2D}" srcOrd="0" destOrd="0" presId="urn:microsoft.com/office/officeart/2018/2/layout/IconLabelList"/>
    <dgm:cxn modelId="{B8F89D21-D70F-43BA-A2EF-9101644D3720}" type="presParOf" srcId="{157605F1-D30C-4D33-B418-EAB83C1ED9EC}" destId="{7A5D66F7-841E-4F5F-BDBF-AE38263690E8}" srcOrd="1" destOrd="0" presId="urn:microsoft.com/office/officeart/2018/2/layout/IconLabelList"/>
    <dgm:cxn modelId="{16C6C687-2CCA-4767-AFC5-D7EAB44D164B}" type="presParOf" srcId="{157605F1-D30C-4D33-B418-EAB83C1ED9EC}" destId="{944D7D8B-B2E7-4A6D-BDE4-8C39D75EA9D3}" srcOrd="2" destOrd="0" presId="urn:microsoft.com/office/officeart/2018/2/layout/IconLabelList"/>
    <dgm:cxn modelId="{F2D6FD3A-17CE-4926-BAA2-A034157C48F8}" type="presParOf" srcId="{157B1494-5147-49DF-92FC-3625A4F96D53}" destId="{8241BB4E-6071-40F1-81E3-AA01D441B55D}" srcOrd="1" destOrd="0" presId="urn:microsoft.com/office/officeart/2018/2/layout/IconLabelList"/>
    <dgm:cxn modelId="{A6EEC177-86A1-496B-91AF-AB1CC1697320}" type="presParOf" srcId="{157B1494-5147-49DF-92FC-3625A4F96D53}" destId="{FC0BCB4D-859E-4D12-B947-2FF0418ED5F0}" srcOrd="2" destOrd="0" presId="urn:microsoft.com/office/officeart/2018/2/layout/IconLabelList"/>
    <dgm:cxn modelId="{75D2CC9C-805F-47BB-AF00-2FDB6DB75E6C}" type="presParOf" srcId="{FC0BCB4D-859E-4D12-B947-2FF0418ED5F0}" destId="{2B91B6DC-46D9-4C66-9F49-E28A673957C6}" srcOrd="0" destOrd="0" presId="urn:microsoft.com/office/officeart/2018/2/layout/IconLabelList"/>
    <dgm:cxn modelId="{8409459E-9787-4A64-83E6-43E4C2C1D58E}" type="presParOf" srcId="{FC0BCB4D-859E-4D12-B947-2FF0418ED5F0}" destId="{E35C4094-FC43-4C99-A7C9-8018DEA5BDB2}" srcOrd="1" destOrd="0" presId="urn:microsoft.com/office/officeart/2018/2/layout/IconLabelList"/>
    <dgm:cxn modelId="{DC53A802-4432-477A-B32D-D5338C578040}" type="presParOf" srcId="{FC0BCB4D-859E-4D12-B947-2FF0418ED5F0}" destId="{E5980362-7AF7-4C50-B0A5-10FEF9DCBBB4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BF78781-0A77-4CB8-A7FC-95C20D752B2D}">
      <dsp:nvSpPr>
        <dsp:cNvPr id="0" name=""/>
        <dsp:cNvSpPr/>
      </dsp:nvSpPr>
      <dsp:spPr>
        <a:xfrm>
          <a:off x="1099810" y="696102"/>
          <a:ext cx="1660500" cy="16605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4D7D8B-B2E7-4A6D-BDE4-8C39D75EA9D3}">
      <dsp:nvSpPr>
        <dsp:cNvPr id="0" name=""/>
        <dsp:cNvSpPr/>
      </dsp:nvSpPr>
      <dsp:spPr>
        <a:xfrm>
          <a:off x="85060" y="2776702"/>
          <a:ext cx="369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Thank you for your attention!</a:t>
          </a:r>
        </a:p>
      </dsp:txBody>
      <dsp:txXfrm>
        <a:off x="85060" y="2776702"/>
        <a:ext cx="3690000" cy="720000"/>
      </dsp:txXfrm>
    </dsp:sp>
    <dsp:sp modelId="{2B91B6DC-46D9-4C66-9F49-E28A673957C6}">
      <dsp:nvSpPr>
        <dsp:cNvPr id="0" name=""/>
        <dsp:cNvSpPr/>
      </dsp:nvSpPr>
      <dsp:spPr>
        <a:xfrm>
          <a:off x="5435560" y="696102"/>
          <a:ext cx="1660500" cy="16605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980362-7AF7-4C50-B0A5-10FEF9DCBBB4}">
      <dsp:nvSpPr>
        <dsp:cNvPr id="0" name=""/>
        <dsp:cNvSpPr/>
      </dsp:nvSpPr>
      <dsp:spPr>
        <a:xfrm>
          <a:off x="4420810" y="2776702"/>
          <a:ext cx="369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We welcome your questions and feedback.</a:t>
          </a:r>
        </a:p>
      </dsp:txBody>
      <dsp:txXfrm>
        <a:off x="4420810" y="2776702"/>
        <a:ext cx="369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hyperlink" Target="https://shorturl.at/jqPms" TargetMode="Externa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04537" y="4803"/>
            <a:ext cx="6258750" cy="2635993"/>
          </a:xfrm>
        </p:spPr>
        <p:txBody>
          <a:bodyPr anchor="b">
            <a:normAutofit/>
          </a:bodyPr>
          <a:lstStyle/>
          <a:p>
            <a:pPr algn="l"/>
            <a:r>
              <a:rPr lang="en-US" sz="4200" dirty="0"/>
              <a:t>Exploratory Data Analysis of U.S.</a:t>
            </a:r>
            <a:r>
              <a:rPr lang="en-US" sz="4200"/>
              <a:t> </a:t>
            </a:r>
            <a:r>
              <a:rPr lang="en-US" sz="4200" dirty="0"/>
              <a:t>Accidents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BC05CA36-AD6A-4ABF-9A05-52E5A143D2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0" y="4022214"/>
            <a:ext cx="9144000" cy="2835786"/>
          </a:xfrm>
          <a:prstGeom prst="rect">
            <a:avLst/>
          </a:prstGeom>
          <a:gradFill>
            <a:gsLst>
              <a:gs pos="0">
                <a:schemeClr val="accent1"/>
              </a:gs>
              <a:gs pos="78000">
                <a:srgbClr val="000000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D4331EE8-85A4-4588-8D9E-70E534D477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028950" y="4022220"/>
            <a:ext cx="6115048" cy="2835780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100000">
                <a:schemeClr val="accent1">
                  <a:lumMod val="7500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9D6C862-61CC-4B46-8080-96583D653B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4022219"/>
            <a:ext cx="9190104" cy="2835781"/>
          </a:xfrm>
          <a:prstGeom prst="rect">
            <a:avLst/>
          </a:prstGeom>
          <a:gradFill>
            <a:gsLst>
              <a:gs pos="3900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72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17581" y="4541263"/>
            <a:ext cx="7001579" cy="1872317"/>
          </a:xfrm>
        </p:spPr>
        <p:txBody>
          <a:bodyPr anchor="t">
            <a:normAutofit fontScale="85000" lnSpcReduction="20000"/>
          </a:bodyPr>
          <a:lstStyle/>
          <a:p>
            <a:pPr algn="l">
              <a:lnSpc>
                <a:spcPct val="90000"/>
              </a:lnSpc>
            </a:pPr>
            <a:r>
              <a:rPr lang="en-US" sz="2700">
                <a:solidFill>
                  <a:srgbClr val="FFFFFF"/>
                </a:solidFill>
              </a:rPr>
              <a:t>CSIT 553 – Project 2</a:t>
            </a:r>
          </a:p>
          <a:p>
            <a:pPr algn="l">
              <a:lnSpc>
                <a:spcPct val="90000"/>
              </a:lnSpc>
            </a:pPr>
            <a:endParaRPr lang="en-US" sz="1200">
              <a:solidFill>
                <a:srgbClr val="FFFFFF"/>
              </a:solidFill>
              <a:ea typeface="Calibri"/>
              <a:cs typeface="Calibri"/>
            </a:endParaRPr>
          </a:p>
          <a:p>
            <a:pPr algn="l">
              <a:lnSpc>
                <a:spcPct val="90000"/>
              </a:lnSpc>
            </a:pPr>
            <a:r>
              <a:rPr lang="en-US" sz="2700">
                <a:solidFill>
                  <a:srgbClr val="FFFFFF"/>
                </a:solidFill>
              </a:rPr>
              <a:t>Student Names:  Joana </a:t>
            </a:r>
            <a:r>
              <a:rPr lang="en-US" sz="2700" err="1">
                <a:solidFill>
                  <a:srgbClr val="FFFFFF"/>
                </a:solidFill>
              </a:rPr>
              <a:t>Dervishaj</a:t>
            </a:r>
            <a:endParaRPr lang="en-US" sz="2700" err="1">
              <a:solidFill>
                <a:srgbClr val="FFFFFF"/>
              </a:solidFill>
              <a:ea typeface="Calibri"/>
              <a:cs typeface="Calibri"/>
            </a:endParaRPr>
          </a:p>
          <a:p>
            <a:pPr algn="l">
              <a:lnSpc>
                <a:spcPct val="90000"/>
              </a:lnSpc>
            </a:pPr>
            <a:r>
              <a:rPr lang="en-US" sz="2700">
                <a:solidFill>
                  <a:srgbClr val="FFFFFF"/>
                </a:solidFill>
                <a:ea typeface="Calibri"/>
                <a:cs typeface="Calibri"/>
              </a:rPr>
              <a:t>       Vinayak Vemula</a:t>
            </a:r>
          </a:p>
          <a:p>
            <a:pPr algn="l">
              <a:lnSpc>
                <a:spcPct val="90000"/>
              </a:lnSpc>
            </a:pPr>
            <a:r>
              <a:rPr lang="en-US" sz="2700">
                <a:solidFill>
                  <a:srgbClr val="FFFFFF"/>
                </a:solidFill>
                <a:ea typeface="Calibri"/>
                <a:cs typeface="Calibri"/>
              </a:rPr>
              <a:t>       Vishwanath Bhupathi</a:t>
            </a:r>
          </a:p>
          <a:p>
            <a:pPr algn="l">
              <a:lnSpc>
                <a:spcPct val="90000"/>
              </a:lnSpc>
            </a:pPr>
            <a:r>
              <a:rPr lang="en-US" sz="2700">
                <a:solidFill>
                  <a:srgbClr val="FFFFFF"/>
                </a:solidFill>
                <a:ea typeface="Calibri"/>
                <a:cs typeface="Calibri"/>
              </a:rPr>
              <a:t>       Lam Nguyen</a:t>
            </a:r>
          </a:p>
        </p:txBody>
      </p:sp>
      <p:pic>
        <p:nvPicPr>
          <p:cNvPr id="7" name="Graphic 6" descr="Car">
            <a:extLst>
              <a:ext uri="{FF2B5EF4-FFF2-40B4-BE49-F238E27FC236}">
                <a16:creationId xmlns:a16="http://schemas.microsoft.com/office/drawing/2014/main" id="{7A7A1F5A-7ED0-CA0C-4F45-CE44DC55B4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66177" y="964735"/>
            <a:ext cx="4261639" cy="4249079"/>
          </a:xfrm>
          <a:prstGeom prst="rect">
            <a:avLst/>
          </a:prstGeom>
        </p:spPr>
      </p:pic>
      <p:sp>
        <p:nvSpPr>
          <p:cNvPr id="38" name="Rectangle 37">
            <a:extLst>
              <a:ext uri="{FF2B5EF4-FFF2-40B4-BE49-F238E27FC236}">
                <a16:creationId xmlns:a16="http://schemas.microsoft.com/office/drawing/2014/main" id="{E37EECFC-A684-4391-AE85-4CDAF5565F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6400797"/>
            <a:ext cx="9143998" cy="457203"/>
          </a:xfrm>
          <a:prstGeom prst="rect">
            <a:avLst/>
          </a:prstGeom>
          <a:gradFill>
            <a:gsLst>
              <a:gs pos="0">
                <a:srgbClr val="000000">
                  <a:alpha val="43000"/>
                </a:srgbClr>
              </a:gs>
              <a:gs pos="79000">
                <a:schemeClr val="accent1">
                  <a:lumMod val="75000"/>
                  <a:alpha val="2200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/>
            <a:r>
              <a:rPr lang="en-IN" sz="3500">
                <a:solidFill>
                  <a:srgbClr val="FFFFFF"/>
                </a:solidFill>
              </a:rPr>
              <a:t>Project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25100" y="659044"/>
            <a:ext cx="5691262" cy="5651261"/>
          </a:xfrm>
        </p:spPr>
        <p:txBody>
          <a:bodyPr anchor="ctr">
            <a:normAutofit lnSpcReduction="10000"/>
          </a:bodyPr>
          <a:lstStyle/>
          <a:p>
            <a:r>
              <a:rPr lang="en-US" sz="24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This project analyzes fatal motor vehicle crashes in the U.S. using 2022 data from the Fatality Analysis Reporting System (FARS). The dataset includes detailed information on over 39,000 incidents.</a:t>
            </a:r>
          </a:p>
          <a:p>
            <a:endParaRPr lang="en-US" sz="1800" dirty="0"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Each record includes details like time, location, number of people and vehicles, and conditions such as weather and lighting—helping identify factors behind fatal crashes.</a:t>
            </a: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The goal is to uncover trends and risks through visual tools like maps and interactive charts, supporting safety efforts and informed decision-making.</a:t>
            </a:r>
          </a:p>
          <a:p>
            <a:endParaRPr lang="en-US" sz="1700" dirty="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/>
            <a:r>
              <a:rPr lang="en-IN" sz="3500">
                <a:solidFill>
                  <a:srgbClr val="FFFFFF"/>
                </a:solidFill>
              </a:rP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7694" y="649480"/>
            <a:ext cx="4916510" cy="5546047"/>
          </a:xfrm>
        </p:spPr>
        <p:txBody>
          <a:bodyPr anchor="ctr"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the temporal and spatial distribution of fatal traffic accidents.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geographic maps and aggregated charts to visualize crash data.</a:t>
            </a:r>
            <a:endParaRPr lang="en-US" sz="24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interactive plots to explore the data in depth.</a:t>
            </a:r>
            <a:endParaRPr lang="en-US" sz="24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correlations between time, weather, location, and crash severity.</a:t>
            </a:r>
            <a:endParaRPr lang="en-US" sz="24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/>
            <a:r>
              <a:rPr lang="en-IN" sz="3500">
                <a:solidFill>
                  <a:srgbClr val="FFFFFF"/>
                </a:solidFill>
              </a:rP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5535" y="649480"/>
            <a:ext cx="5586048" cy="5546047"/>
          </a:xfrm>
        </p:spPr>
        <p:txBody>
          <a:bodyPr anchor="ctr"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Data comes from the FARS 2022 report on fatal traffic crashes in the U.S.</a:t>
            </a:r>
          </a:p>
          <a:p>
            <a:r>
              <a:rPr lang="en-US" sz="24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Contains over 39,000 records with details on time, location, and conditions.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 include: time, location, vehicle types, weather, lighting, and number of fatalities.</a:t>
            </a:r>
            <a:endParaRPr lang="en-US" sz="24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Cleaned to remove missing or incorrect coordinates for accurate mapping.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652" y="3111502"/>
            <a:ext cx="3016486" cy="687003"/>
          </a:xfrm>
        </p:spPr>
        <p:txBody>
          <a:bodyPr anchor="b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Bubble Map </a:t>
            </a:r>
            <a:endParaRPr lang="en-US" sz="35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93683" y="586678"/>
            <a:ext cx="5519411" cy="5721893"/>
          </a:xfrm>
        </p:spPr>
        <p:txBody>
          <a:bodyPr anchor="ctr"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Shows 5,000 fatal crashes across the U.S. using location data.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Each bubble’s position is based on GPS, with size or color reflecting severity or weather.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Hover details show state, hour, day of week, and weather condition.</a:t>
            </a:r>
            <a:endParaRPr lang="en-US" sz="24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Map created using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Plotly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Mapbox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styled as an open street map.</a:t>
            </a:r>
            <a:endParaRPr lang="en-US" sz="24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0AD511C-F1DC-FE58-A7B9-5CFA199ABA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67147"/>
            <a:ext cx="9143999" cy="7025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78025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336136" y="1336710"/>
            <a:ext cx="6858000" cy="418458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88181" y="1092216"/>
            <a:ext cx="6346209" cy="418206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833933" y="3515977"/>
            <a:ext cx="2501979" cy="418206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176002" y="1496845"/>
            <a:ext cx="6858001" cy="386430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74277" y="1668285"/>
            <a:ext cx="4318303" cy="3238727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8225" y="2420679"/>
            <a:ext cx="4039245" cy="1754640"/>
          </a:xfrm>
        </p:spPr>
        <p:txBody>
          <a:bodyPr anchor="b">
            <a:normAutofit/>
          </a:bodyPr>
          <a:lstStyle/>
          <a:p>
            <a:pPr algn="r"/>
            <a:r>
              <a:rPr lang="en-US" sz="3500">
                <a:solidFill>
                  <a:srgbClr val="FFFFFF"/>
                </a:solidFill>
              </a:rPr>
              <a:t>Choropleth Maps:</a:t>
            </a:r>
            <a:br>
              <a:rPr lang="en-US" sz="3500"/>
            </a:br>
            <a:r>
              <a:rPr lang="en-US" sz="3500" b="1">
                <a:solidFill>
                  <a:srgbClr val="FFFFFF"/>
                </a:solidFill>
                <a:ea typeface="+mj-lt"/>
                <a:cs typeface="+mj-lt"/>
              </a:rPr>
              <a:t>1. Fatal Crashes by </a:t>
            </a:r>
            <a:br>
              <a:rPr lang="en-US" sz="3500" b="1">
                <a:ea typeface="+mj-lt"/>
                <a:cs typeface="+mj-lt"/>
              </a:rPr>
            </a:br>
            <a:r>
              <a:rPr lang="en-US" sz="3500" b="1">
                <a:solidFill>
                  <a:srgbClr val="FFFFFF"/>
                </a:solidFill>
                <a:ea typeface="+mj-lt"/>
                <a:cs typeface="+mj-lt"/>
              </a:rPr>
              <a:t>State</a:t>
            </a:r>
            <a:endParaRPr lang="en-US" sz="3500">
              <a:solidFill>
                <a:srgbClr val="FFFFFF"/>
              </a:solidFill>
              <a:ea typeface="Calibri"/>
              <a:cs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62390" y="-1"/>
            <a:ext cx="5015922" cy="6243485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en-US" sz="1700" b="1" dirty="0">
              <a:latin typeface="+Heading"/>
              <a:ea typeface="Calibri"/>
              <a:cs typeface="Calibri"/>
            </a:endParaRPr>
          </a:p>
          <a:p>
            <a:endParaRPr lang="en-US" sz="26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Visualizes the number of fatal crashes across U.S. states using color intensity.</a:t>
            </a:r>
            <a:endParaRPr lang="en-US" sz="26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r>
              <a:rPr lang="en-US" sz="26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Darker shades represent states with higher numbers of fatal crashes.</a:t>
            </a:r>
          </a:p>
          <a:p>
            <a:r>
              <a:rPr lang="en-US" sz="26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Helps identify regions with the highest crash frequency.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990DCE6-0891-943D-E3D7-B6B1E56414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8155"/>
            <a:ext cx="9144000" cy="6567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75780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336136" y="1336710"/>
            <a:ext cx="6858000" cy="418458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88181" y="1092216"/>
            <a:ext cx="6346209" cy="418206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833933" y="3515977"/>
            <a:ext cx="2501979" cy="418206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176002" y="1496845"/>
            <a:ext cx="6858001" cy="386430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74277" y="1668285"/>
            <a:ext cx="4318303" cy="3238727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0907" y="2847733"/>
            <a:ext cx="3951321" cy="1189421"/>
          </a:xfrm>
        </p:spPr>
        <p:txBody>
          <a:bodyPr anchor="b">
            <a:normAutofit/>
          </a:bodyPr>
          <a:lstStyle/>
          <a:p>
            <a:pPr algn="l"/>
            <a:r>
              <a:rPr lang="en-US" sz="3500">
                <a:solidFill>
                  <a:srgbClr val="FFFFFF"/>
                </a:solidFill>
              </a:rPr>
              <a:t>2. Crashes &amp; Fatalities per 100K</a:t>
            </a:r>
            <a:endParaRPr lang="en-US">
              <a:ea typeface="Calibri"/>
              <a:cs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0468" y="186814"/>
            <a:ext cx="4651511" cy="6169538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maps: </a:t>
            </a:r>
            <a:endParaRPr lang="en-US" sz="24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    (1) Crashes per 100K people </a:t>
            </a:r>
            <a:endParaRPr lang="en-US" sz="24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(2) Fatalities per 100K people.</a:t>
            </a: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Adjusting for population highlights risk levels more fairly.</a:t>
            </a:r>
          </a:p>
          <a:p>
            <a:endParaRPr lang="en-US" sz="20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Useful for comparing states regardless of size.</a:t>
            </a:r>
            <a:endParaRPr lang="en-US" sz="24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AABCC22-FC31-1F3E-F6A3-BDC8FDA11B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6142"/>
            <a:ext cx="9144000" cy="6631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1508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336136" y="1336710"/>
            <a:ext cx="6858000" cy="418458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88181" y="1092216"/>
            <a:ext cx="6346209" cy="418206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833933" y="3515977"/>
            <a:ext cx="2501979" cy="418206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176002" y="1496845"/>
            <a:ext cx="6858001" cy="386430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74277" y="1668285"/>
            <a:ext cx="4318303" cy="3238727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20" y="2207150"/>
            <a:ext cx="3825717" cy="2470585"/>
          </a:xfrm>
        </p:spPr>
        <p:txBody>
          <a:bodyPr anchor="b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Histogram Maps:</a:t>
            </a:r>
            <a:br>
              <a:rPr lang="en-US" sz="3500">
                <a:solidFill>
                  <a:srgbClr val="FFFFFF"/>
                </a:solidFill>
                <a:ea typeface="Calibri"/>
                <a:cs typeface="Calibri"/>
              </a:rPr>
            </a:br>
            <a:r>
              <a:rPr lang="en-US" sz="3500">
                <a:solidFill>
                  <a:schemeClr val="bg1"/>
                </a:solidFill>
                <a:ea typeface="+mj-lt"/>
                <a:cs typeface="+mj-lt"/>
              </a:rPr>
              <a:t>1. Hourly Crashes by Day</a:t>
            </a:r>
            <a:br>
              <a:rPr lang="en-US" sz="3500"/>
            </a:br>
            <a:endParaRPr lang="en-US" sz="3500">
              <a:solidFill>
                <a:srgbClr val="FFFFFF"/>
              </a:solidFill>
              <a:ea typeface="Calibri"/>
              <a:cs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87511" y="536436"/>
            <a:ext cx="4274856" cy="5784695"/>
          </a:xfrm>
        </p:spPr>
        <p:txBody>
          <a:bodyPr anchor="ctr"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Shows number of crashes by hour, broken down by day of the week.</a:t>
            </a:r>
          </a:p>
          <a:p>
            <a:r>
              <a:rPr lang="en-US" sz="24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Highlights peak hours for fatal accidents, like evening rush.</a:t>
            </a:r>
          </a:p>
          <a:p>
            <a:r>
              <a:rPr lang="en-US" sz="24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Color-coded bars make weekday patterns easy to compare.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6D7E1AC-7546-8353-BF54-9F8CDF2074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652" y="393291"/>
            <a:ext cx="9006348" cy="6464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64703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336136" y="1336710"/>
            <a:ext cx="6858000" cy="418458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088181" y="1092216"/>
            <a:ext cx="6346209" cy="418206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833933" y="3515977"/>
            <a:ext cx="2501979" cy="418206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176002" y="1496845"/>
            <a:ext cx="6858001" cy="386430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74277" y="1668285"/>
            <a:ext cx="4318303" cy="3238727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8588" y="2445799"/>
            <a:ext cx="3436344" cy="1704399"/>
          </a:xfrm>
        </p:spPr>
        <p:txBody>
          <a:bodyPr anchor="b">
            <a:normAutofit fontScale="90000"/>
          </a:bodyPr>
          <a:lstStyle/>
          <a:p>
            <a:r>
              <a:rPr lang="en-US" sz="3500">
                <a:solidFill>
                  <a:srgbClr val="FFFFFF"/>
                </a:solidFill>
              </a:rPr>
              <a:t>2. Weekday</a:t>
            </a:r>
            <a:br>
              <a:rPr lang="en-US" sz="3500">
                <a:solidFill>
                  <a:srgbClr val="FFFFFF"/>
                </a:solidFill>
              </a:rPr>
            </a:br>
            <a:r>
              <a:rPr lang="en-US" sz="3500">
                <a:solidFill>
                  <a:srgbClr val="FFFFFF"/>
                </a:solidFill>
              </a:rPr>
              <a:t> vs</a:t>
            </a:r>
            <a:br>
              <a:rPr lang="en-US" sz="3500">
                <a:solidFill>
                  <a:srgbClr val="FFFFFF"/>
                </a:solidFill>
              </a:rPr>
            </a:br>
            <a:r>
              <a:rPr lang="en-US" sz="3500">
                <a:solidFill>
                  <a:srgbClr val="FFFFFF"/>
                </a:solidFill>
              </a:rPr>
              <a:t> Weekend Crashes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568" y="649480"/>
            <a:ext cx="4358035" cy="5546047"/>
          </a:xfrm>
        </p:spPr>
        <p:txBody>
          <a:bodyPr anchor="ctr"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Bar chart separating crash counts by hour for weekdays and weekends.</a:t>
            </a:r>
            <a:endParaRPr lang="en-US" sz="24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Shows different patterns between workdays and leisure days.</a:t>
            </a:r>
            <a:endParaRPr lang="en-US" sz="24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Clear grouping helps identify when roads are most dangerous.</a:t>
            </a:r>
            <a:endParaRPr lang="en-US" sz="24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5A538C6-F5DB-96C1-BAEF-03A77CE5DB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316" y="412956"/>
            <a:ext cx="8986684" cy="6445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63029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5941" y="2644255"/>
            <a:ext cx="1905725" cy="822097"/>
          </a:xfrm>
        </p:spPr>
        <p:txBody>
          <a:bodyPr anchor="b">
            <a:normAutofit/>
          </a:bodyPr>
          <a:lstStyle/>
          <a:p>
            <a:pPr algn="r"/>
            <a:r>
              <a:rPr lang="en-US" sz="3500">
                <a:solidFill>
                  <a:srgbClr val="FFFFFF"/>
                </a:solidFill>
              </a:rPr>
              <a:t>Box Plot</a:t>
            </a:r>
            <a:endParaRPr lang="en-US" sz="3500">
              <a:solidFill>
                <a:srgbClr val="FFFFFF"/>
              </a:solidFill>
              <a:ea typeface="Calibri"/>
              <a:cs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9394" y="649480"/>
            <a:ext cx="5551510" cy="5533347"/>
          </a:xfrm>
        </p:spPr>
        <p:txBody>
          <a:bodyPr anchor="ctr"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the distribution of fatalities per crash under different weather conditions.</a:t>
            </a:r>
            <a:endParaRPr lang="en-US" sz="24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Useful to understand how adverse weather impacts crash severity.</a:t>
            </a:r>
            <a:endParaRPr lang="en-US" sz="24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Box plots show distribution, with outliers and medians.</a:t>
            </a:r>
            <a:endParaRPr lang="en-US" sz="24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3B17B97-9AEF-AF6F-3F3F-89586445F7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09600"/>
            <a:ext cx="9144000" cy="6076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2556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1641" y="3037955"/>
            <a:ext cx="2121625" cy="758597"/>
          </a:xfrm>
        </p:spPr>
        <p:txBody>
          <a:bodyPr anchor="b">
            <a:normAutofit/>
          </a:bodyPr>
          <a:lstStyle/>
          <a:p>
            <a:pPr algn="r"/>
            <a:r>
              <a:rPr lang="en-IN" sz="3500" dirty="0">
                <a:solidFill>
                  <a:srgbClr val="FFFFFF"/>
                </a:solidFill>
              </a:rPr>
              <a:t>Heat Map</a:t>
            </a:r>
            <a:endParaRPr lang="en-IN" sz="3500">
              <a:solidFill>
                <a:srgbClr val="FFFFFF"/>
              </a:solidFill>
              <a:ea typeface="Calibri"/>
              <a:cs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15594" y="1830580"/>
            <a:ext cx="5830910" cy="3196547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24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Heatmap showing concentration of fatal crashes in the U.S.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Identifies high-risk areas where crashes are concentrated.</a:t>
            </a:r>
            <a:endParaRPr lang="en-US" sz="24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Brighter areas indicate higher crash density.</a:t>
            </a:r>
          </a:p>
          <a:p>
            <a:r>
              <a:rPr lang="en-US" sz="24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Useful for spotting high-risk regions visually.</a:t>
            </a:r>
            <a:endParaRPr lang="en-US" sz="24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BADE00C-7DA6-8D50-9C25-3B35E6B5EC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5303"/>
            <a:ext cx="9144000" cy="6582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16934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9149" y="3140585"/>
            <a:ext cx="2401025" cy="596930"/>
          </a:xfrm>
        </p:spPr>
        <p:txBody>
          <a:bodyPr anchor="b">
            <a:normAutofit fontScale="90000"/>
          </a:bodyPr>
          <a:lstStyle/>
          <a:p>
            <a:pPr algn="r"/>
            <a:r>
              <a:rPr lang="en-IN" sz="3500">
                <a:solidFill>
                  <a:srgbClr val="FFFFFF"/>
                </a:solidFill>
              </a:rPr>
              <a:t>Time-Series</a:t>
            </a:r>
            <a:endParaRPr lang="en-IN" sz="3500">
              <a:solidFill>
                <a:srgbClr val="FFFFFF"/>
              </a:solidFill>
              <a:ea typeface="Calibri"/>
              <a:cs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77233" y="796964"/>
            <a:ext cx="5647618" cy="5556344"/>
          </a:xfrm>
        </p:spPr>
        <p:txBody>
          <a:bodyPr anchor="ctr"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Line plot showing number of crashes by each hour of the day.</a:t>
            </a:r>
            <a:endParaRPr lang="en-US" sz="24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with scrubbing and zooming enabled.</a:t>
            </a:r>
            <a:endParaRPr lang="en-US" sz="24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Reveals overall crash trends over the day.</a:t>
            </a:r>
            <a:endParaRPr lang="en-US" sz="1700" dirty="0"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E806AD-1F8F-27BA-7D5C-7357686986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651A439-C813-4404-E891-FCD9A34851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484" y="235974"/>
            <a:ext cx="8996516" cy="6622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78165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941" y="3076055"/>
            <a:ext cx="2401025" cy="720497"/>
          </a:xfrm>
        </p:spPr>
        <p:txBody>
          <a:bodyPr anchor="b">
            <a:normAutofit/>
          </a:bodyPr>
          <a:lstStyle/>
          <a:p>
            <a:pPr algn="r"/>
            <a:r>
              <a:rPr lang="en-US" sz="3500">
                <a:solidFill>
                  <a:srgbClr val="FFFFFF"/>
                </a:solidFill>
              </a:rPr>
              <a:t>Bubble Map</a:t>
            </a:r>
            <a:endParaRPr lang="en-US" sz="3500">
              <a:solidFill>
                <a:srgbClr val="FFFFFF"/>
              </a:solidFill>
              <a:ea typeface="Calibri"/>
              <a:cs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9394" y="662180"/>
            <a:ext cx="5691210" cy="5558747"/>
          </a:xfrm>
        </p:spPr>
        <p:txBody>
          <a:bodyPr anchor="ctr"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Bubble map with crashes color-coded by weather conditions.</a:t>
            </a:r>
            <a:endParaRPr lang="en-US" sz="24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Bubble size represents number of fatalities at that location.</a:t>
            </a:r>
            <a:endParaRPr lang="en-US" sz="24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715DE91-59A3-033F-B64D-5A1E713673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3961"/>
            <a:ext cx="9144000" cy="6504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44332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941" y="3152255"/>
            <a:ext cx="2401025" cy="568097"/>
          </a:xfrm>
        </p:spPr>
        <p:txBody>
          <a:bodyPr anchor="b">
            <a:normAutofit fontScale="90000"/>
          </a:bodyPr>
          <a:lstStyle/>
          <a:p>
            <a:r>
              <a:rPr lang="en-US" sz="3500">
                <a:solidFill>
                  <a:srgbClr val="FFFFFF"/>
                </a:solidFill>
              </a:rPr>
              <a:t>Scatter Plot</a:t>
            </a:r>
            <a:endParaRPr lang="en-US" sz="3500">
              <a:solidFill>
                <a:srgbClr val="FFFFFF"/>
              </a:solidFill>
              <a:ea typeface="Calibri"/>
              <a:cs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77494" y="649480"/>
            <a:ext cx="5678510" cy="5558747"/>
          </a:xfrm>
        </p:spPr>
        <p:txBody>
          <a:bodyPr anchor="ctr"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Scatterplot showing fatalities at different hours, colored by weather.</a:t>
            </a:r>
          </a:p>
          <a:p>
            <a:r>
              <a:rPr lang="en-US" sz="24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Shows how weather conditions may affect severity over time.</a:t>
            </a:r>
          </a:p>
          <a:p>
            <a:r>
              <a:rPr lang="en-US" sz="24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Helps compare patterns between clear and adverse conditions.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B6AD8-EB14-156C-7114-24747BF496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1D5917F-BF28-11C1-D163-5ABFEC7B49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0271"/>
            <a:ext cx="9144000" cy="6287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137871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941" y="3076055"/>
            <a:ext cx="2401025" cy="707797"/>
          </a:xfrm>
        </p:spPr>
        <p:txBody>
          <a:bodyPr anchor="b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Bar Chart</a:t>
            </a:r>
            <a:endParaRPr lang="en-US" sz="3500">
              <a:solidFill>
                <a:srgbClr val="FFFFFF"/>
              </a:solidFill>
              <a:ea typeface="Calibri"/>
              <a:cs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90194" y="649480"/>
            <a:ext cx="5856310" cy="5558747"/>
          </a:xfrm>
        </p:spPr>
        <p:txBody>
          <a:bodyPr anchor="ctr"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Grouped bar chart displaying crash count per day under top 4 weather conditions.</a:t>
            </a:r>
            <a:endParaRPr lang="en-US" sz="24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Reveals interaction between weekday and weather effects.</a:t>
            </a:r>
            <a:endParaRPr lang="en-US" sz="24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Makes it easy to compare which days are riskier in bad weather.</a:t>
            </a:r>
          </a:p>
          <a:p>
            <a:r>
              <a:rPr lang="en-US" sz="24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Highlights the interaction between daily trends and conditions.</a:t>
            </a:r>
            <a:endParaRPr lang="en-US" sz="24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400" dirty="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FA1B53D-948B-EC24-7E7D-B074A27E79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2787"/>
            <a:ext cx="9144000" cy="6435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476497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/>
            <a:r>
              <a:rPr lang="en-IN" sz="3500">
                <a:solidFill>
                  <a:srgbClr val="FFFFFF"/>
                </a:solidFill>
              </a:rPr>
              <a:t>Demo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64794" y="595812"/>
            <a:ext cx="5678510" cy="5609547"/>
          </a:xfrm>
        </p:spPr>
        <p:txBody>
          <a:bodyPr anchor="ctr"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All code implemented in a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Jupyter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Notebook using Python.</a:t>
            </a:r>
            <a:endParaRPr lang="en-US" sz="24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Libraries: pandas,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plotly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seaborn,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mapbox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Dataset cleaned and visualizations generated live.</a:t>
            </a:r>
            <a:endParaRPr lang="en-US" sz="24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Interactive maps and plots demonstrate real-time exploration of crash patterns.</a:t>
            </a:r>
            <a:endParaRPr lang="en-US" sz="24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Code Link: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https://shorturl.at/jqPms</a:t>
            </a:r>
            <a:endParaRPr lang="en-US" sz="24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941" y="3063355"/>
            <a:ext cx="2401025" cy="758597"/>
          </a:xfrm>
        </p:spPr>
        <p:txBody>
          <a:bodyPr anchor="b">
            <a:normAutofit/>
          </a:bodyPr>
          <a:lstStyle/>
          <a:p>
            <a:pPr algn="r"/>
            <a:r>
              <a:rPr lang="en-IN" sz="3500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40994" y="649480"/>
            <a:ext cx="5691210" cy="5596847"/>
          </a:xfrm>
        </p:spPr>
        <p:txBody>
          <a:bodyPr anchor="ctr"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Evening hours (5–8 PM) are the most dangerous.</a:t>
            </a:r>
            <a:endParaRPr lang="en-US" sz="24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Poor lighting and adverse weather conditions increase fatality severity.</a:t>
            </a:r>
            <a:endParaRPr lang="en-US" sz="24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States like Texas and California show highest raw crash numbers.</a:t>
            </a:r>
            <a:endParaRPr lang="en-US" sz="24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Visualizations provide actionable insights for traffic safety planning.</a:t>
            </a:r>
            <a:endParaRPr lang="en-US" sz="24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IN" sz="3500">
                <a:solidFill>
                  <a:srgbClr val="FFFFFF"/>
                </a:solidFill>
              </a:rPr>
              <a:t>Q &amp; A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196408B-45C2-54D8-4C65-3727FE87A18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20233600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780</Words>
  <Application>Microsoft Office PowerPoint</Application>
  <PresentationFormat>On-screen Show (4:3)</PresentationFormat>
  <Paragraphs>89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4" baseType="lpstr">
      <vt:lpstr>+Heading</vt:lpstr>
      <vt:lpstr>Arial</vt:lpstr>
      <vt:lpstr>Calibri</vt:lpstr>
      <vt:lpstr>Times New Roman</vt:lpstr>
      <vt:lpstr>Office Theme</vt:lpstr>
      <vt:lpstr>Exploratory Data Analysis of U.S. Accidents</vt:lpstr>
      <vt:lpstr>Project Description</vt:lpstr>
      <vt:lpstr>Project Objectives</vt:lpstr>
      <vt:lpstr>Dataset Overview</vt:lpstr>
      <vt:lpstr>Bubble Map </vt:lpstr>
      <vt:lpstr>PowerPoint Presentation</vt:lpstr>
      <vt:lpstr>Choropleth Maps: 1. Fatal Crashes by  State</vt:lpstr>
      <vt:lpstr>PowerPoint Presentation</vt:lpstr>
      <vt:lpstr>2. Crashes &amp; Fatalities per 100K</vt:lpstr>
      <vt:lpstr>PowerPoint Presentation</vt:lpstr>
      <vt:lpstr>Histogram Maps: 1. Hourly Crashes by Day </vt:lpstr>
      <vt:lpstr>PowerPoint Presentation</vt:lpstr>
      <vt:lpstr>2. Weekday  vs  Weekend Crashes</vt:lpstr>
      <vt:lpstr>PowerPoint Presentation</vt:lpstr>
      <vt:lpstr>Box Plot</vt:lpstr>
      <vt:lpstr>PowerPoint Presentation</vt:lpstr>
      <vt:lpstr>Heat Map</vt:lpstr>
      <vt:lpstr>PowerPoint Presentation</vt:lpstr>
      <vt:lpstr>Time-Series</vt:lpstr>
      <vt:lpstr>PowerPoint Presentation</vt:lpstr>
      <vt:lpstr>Bubble Map</vt:lpstr>
      <vt:lpstr>PowerPoint Presentation</vt:lpstr>
      <vt:lpstr>Scatter Plot</vt:lpstr>
      <vt:lpstr>PowerPoint Presentation</vt:lpstr>
      <vt:lpstr>Bar Chart</vt:lpstr>
      <vt:lpstr>PowerPoint Presentation</vt:lpstr>
      <vt:lpstr>Demo Overview</vt:lpstr>
      <vt:lpstr>Conclusion</vt:lpstr>
      <vt:lpstr>Q &amp; A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bhupathi vishwanath</dc:creator>
  <cp:keywords/>
  <dc:description>generated using python-pptx</dc:description>
  <cp:lastModifiedBy>bhupathivishwanath917@gmail.com</cp:lastModifiedBy>
  <cp:revision>3</cp:revision>
  <dcterms:created xsi:type="dcterms:W3CDTF">2013-01-27T09:14:16Z</dcterms:created>
  <dcterms:modified xsi:type="dcterms:W3CDTF">2025-04-23T00:36:40Z</dcterms:modified>
  <cp:category/>
</cp:coreProperties>
</file>